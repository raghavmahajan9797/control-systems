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4630400" cy="8229600"/>
  <p:notesSz cx="8229600" cy="14630400"/>
  <p:embeddedFontLst>
    <p:embeddedFont>
      <p:font typeface="Arial Black" panose="020B0A04020102020204" pitchFamily="34" charset="0"/>
      <p:bold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Quattrocento" panose="02020502030000000404" pitchFamily="18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EC0F975-674C-421C-8F81-67486931CBB7}">
          <p14:sldIdLst>
            <p14:sldId id="256"/>
            <p14:sldId id="257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Untitled Section" id="{A8C794D2-2027-4857-91E7-E1C7E4EA06BF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06C4F9-A060-40ED-85D4-CF79E90A1193}" v="121" dt="2026-03-31T17:59:08.461"/>
    <p1510:client id="{70868F0C-0169-0C61-AE24-EE8C448F4969}" v="208" dt="2026-03-31T17:53:31.2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7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423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actaastro.2008.01.007" TargetMode="External"/><Relationship Id="rId3" Type="http://schemas.openxmlformats.org/officeDocument/2006/relationships/hyperlink" Target="https://doi.org/10.1016/j.asr.2024.08.056" TargetMode="External"/><Relationship Id="rId7" Type="http://schemas.openxmlformats.org/officeDocument/2006/relationships/hyperlink" Target="https://doi.org/10.1016/j.conengprac.2007.02.004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doi.org/10.1016/j.actaastro.2014.05.018" TargetMode="External"/><Relationship Id="rId11" Type="http://schemas.openxmlformats.org/officeDocument/2006/relationships/hyperlink" Target="https://doi.org/10.1016/j.actaastro.2010.01.018" TargetMode="External"/><Relationship Id="rId5" Type="http://schemas.openxmlformats.org/officeDocument/2006/relationships/hyperlink" Target="https://doi.org/10.3390/app12105273" TargetMode="External"/><Relationship Id="rId10" Type="http://schemas.openxmlformats.org/officeDocument/2006/relationships/hyperlink" Target="https://doi.org/10.1016/j.actaastro.2014.03.004" TargetMode="External"/><Relationship Id="rId4" Type="http://schemas.openxmlformats.org/officeDocument/2006/relationships/hyperlink" Target="https://doi.org/10.1016/j.rineng.2022.100717" TargetMode="External"/><Relationship Id="rId9" Type="http://schemas.openxmlformats.org/officeDocument/2006/relationships/hyperlink" Target="https://doi.org/10.1016/j.actaastro.2015.05.013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66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Arial Black" panose="020B0A04020102020204" pitchFamily="34" charset="0"/>
                <a:ea typeface="Unbounded Bold" pitchFamily="34" charset="-122"/>
                <a:cs typeface="Unbounded Bold" pitchFamily="34" charset="-120"/>
              </a:rPr>
              <a:t>Quaternion-Based Reaction Wheel Attitude Control for Satellites</a:t>
            </a:r>
            <a:endParaRPr lang="en-US" sz="4450" b="1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5598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 Systems BMEE330L | Team REGEL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17790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Raghav Mahajan (23BME0456) • Vedant Singh (23BME0456) • Pranav Subhash (23BME0481)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8CBFD4-08F5-61FD-E98E-99AD8A87E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7073" y="7338958"/>
            <a:ext cx="2353003" cy="7716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0145" y="113943"/>
            <a:ext cx="70015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67711" y="105059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Satellites require precise orientation control to maintain proper alignment for communication, Earth observation, and scientific measurements. Without active control, external disturbances cause uncontrolled rotation.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200145" y="2010050"/>
            <a:ext cx="4717672" cy="1272569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4579" y="2244484"/>
            <a:ext cx="29981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Gravity Gradient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4579" y="2734902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Non-uniform gravitational field from Earth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068609" y="1988706"/>
            <a:ext cx="4137897" cy="1322189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043" y="22231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Solar Radiation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168680" y="2734902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Pressure acting on satellite surfaces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340988" y="1994084"/>
            <a:ext cx="3649425" cy="1316811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75422" y="2228518"/>
            <a:ext cx="32712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Atmospheric Drag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575422" y="2425562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Residual drag at low altitudes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3369704-3BEF-EDE9-F8DF-73C531513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1323" y="7389679"/>
            <a:ext cx="2353003" cy="771633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0F18CB34-F865-CB8E-D1EA-E111D393A15D}"/>
              </a:ext>
            </a:extLst>
          </p:cNvPr>
          <p:cNvSpPr/>
          <p:nvPr/>
        </p:nvSpPr>
        <p:spPr>
          <a:xfrm>
            <a:off x="200145" y="4212551"/>
            <a:ext cx="76286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Research Foundation</a:t>
            </a:r>
            <a:endParaRPr lang="en-US" sz="40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B2E212C2-1905-8637-6261-D525A2673D20}"/>
              </a:ext>
            </a:extLst>
          </p:cNvPr>
          <p:cNvSpPr/>
          <p:nvPr/>
        </p:nvSpPr>
        <p:spPr>
          <a:xfrm>
            <a:off x="200145" y="511043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75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06581E5A-52E3-6A84-E01E-31223622B6EE}"/>
              </a:ext>
            </a:extLst>
          </p:cNvPr>
          <p:cNvSpPr/>
          <p:nvPr/>
        </p:nvSpPr>
        <p:spPr>
          <a:xfrm>
            <a:off x="200145" y="5465478"/>
            <a:ext cx="4196358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62257226-D752-D0AE-9C20-5B69B4FEB011}"/>
              </a:ext>
            </a:extLst>
          </p:cNvPr>
          <p:cNvSpPr/>
          <p:nvPr/>
        </p:nvSpPr>
        <p:spPr>
          <a:xfrm>
            <a:off x="200145" y="5639786"/>
            <a:ext cx="38127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Research Foundation</a:t>
            </a:r>
            <a:endParaRPr lang="en-US" sz="22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A7E5EEB1-E00E-E0CD-864C-452AB26E81D8}"/>
              </a:ext>
            </a:extLst>
          </p:cNvPr>
          <p:cNvSpPr/>
          <p:nvPr/>
        </p:nvSpPr>
        <p:spPr>
          <a:xfrm>
            <a:off x="200145" y="6130204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concept derived from spacecraft control literature and IEEE papers on quaternion-based control systems for small satellites.</a:t>
            </a:r>
            <a:endParaRPr lang="en-US" sz="175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F8077AF5-D5FA-D0A8-51FC-A41B27B3A8B6}"/>
              </a:ext>
            </a:extLst>
          </p:cNvPr>
          <p:cNvSpPr/>
          <p:nvPr/>
        </p:nvSpPr>
        <p:spPr>
          <a:xfrm>
            <a:off x="4623317" y="511043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750" dirty="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8F1682A4-9D4E-2D32-6094-06A4EB141763}"/>
              </a:ext>
            </a:extLst>
          </p:cNvPr>
          <p:cNvSpPr/>
          <p:nvPr/>
        </p:nvSpPr>
        <p:spPr>
          <a:xfrm>
            <a:off x="4623317" y="5465478"/>
            <a:ext cx="4196358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12B5A6EC-F934-45F2-9900-E85B76243565}"/>
              </a:ext>
            </a:extLst>
          </p:cNvPr>
          <p:cNvSpPr/>
          <p:nvPr/>
        </p:nvSpPr>
        <p:spPr>
          <a:xfrm>
            <a:off x="4623317" y="5639786"/>
            <a:ext cx="33472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Proven Technology</a:t>
            </a:r>
            <a:endParaRPr lang="en-US" sz="22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14D77F93-16D2-35F8-7269-032FBED3FA56}"/>
              </a:ext>
            </a:extLst>
          </p:cNvPr>
          <p:cNvSpPr/>
          <p:nvPr/>
        </p:nvSpPr>
        <p:spPr>
          <a:xfrm>
            <a:off x="4623317" y="6130204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Reaction wheels selected as primary actuators due to reliability, precision, and widespread use in CubeSats and larger spacecraft.</a:t>
            </a:r>
            <a:endParaRPr lang="en-US" sz="175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2E904B11-470C-F69C-1253-B89D3F548554}"/>
              </a:ext>
            </a:extLst>
          </p:cNvPr>
          <p:cNvSpPr/>
          <p:nvPr/>
        </p:nvSpPr>
        <p:spPr>
          <a:xfrm>
            <a:off x="9046488" y="511043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750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5B5B2457-F0B6-71A0-8AA5-39F72EB67DB6}"/>
              </a:ext>
            </a:extLst>
          </p:cNvPr>
          <p:cNvSpPr/>
          <p:nvPr/>
        </p:nvSpPr>
        <p:spPr>
          <a:xfrm>
            <a:off x="9046488" y="5465478"/>
            <a:ext cx="4196358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3303865A-4148-1F81-FAA6-61A5FD038B57}"/>
              </a:ext>
            </a:extLst>
          </p:cNvPr>
          <p:cNvSpPr/>
          <p:nvPr/>
        </p:nvSpPr>
        <p:spPr>
          <a:xfrm>
            <a:off x="9046488" y="5639786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Advanced Mathematics</a:t>
            </a:r>
            <a:endParaRPr lang="en-US" sz="220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12C48448-5193-F87D-B43A-DDDCC56BFE61}"/>
              </a:ext>
            </a:extLst>
          </p:cNvPr>
          <p:cNvSpPr/>
          <p:nvPr/>
        </p:nvSpPr>
        <p:spPr>
          <a:xfrm>
            <a:off x="9046488" y="6484534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Quaternion representation chosen over Euler angles to avoid singularities and enable efficient attitude computation.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8913"/>
            <a:ext cx="62225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System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9132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attitude control system operates through a closed-loop feedback mechanism that continuously adjusts satellite orientation using reaction wheel momentum.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72276"/>
            <a:ext cx="6521410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106347"/>
            <a:ext cx="34917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Desired Orientation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4596765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Reference attitude input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972276"/>
            <a:ext cx="6521410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42014" y="4106347"/>
            <a:ext cx="29987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Quaternion Error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542014" y="4596765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Calculate attitude deviation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186482"/>
            <a:ext cx="6521410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0604" y="6320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PD Controller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020604" y="6810970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control torque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5186482"/>
            <a:ext cx="6521410" cy="9072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42014" y="6320552"/>
            <a:ext cx="40599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Reaction Wheel Torque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542014" y="6810970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corrective forces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39340E5-EC8B-0A36-AB05-A1F2B2D847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77397" y="7395871"/>
            <a:ext cx="2353003" cy="7716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436689"/>
            <a:ext cx="125262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Pyramidal Four-Wheel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680323" y="119895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employs four reaction wheels arranged in a pyramid configuration with one wheel along each axis and a fourth wheel at an angle, providing redundancy and three-axis control capability.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80323" y="2167414"/>
            <a:ext cx="6407944" cy="1367909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37617" y="2424708"/>
            <a:ext cx="53449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Single Wheel Failure Tolerance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7617" y="2915126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Maintains partial functionality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315081" y="2167414"/>
            <a:ext cx="6408063" cy="1367909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72375" y="2424708"/>
            <a:ext cx="51825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Improved Torque Distribution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72375" y="2915126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Enhanced momentum management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680323" y="3762137"/>
            <a:ext cx="6407944" cy="1367909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7617" y="4019431"/>
            <a:ext cx="4991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Enhanced Control Authority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37617" y="4509850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Across all rotational axes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081" y="3762137"/>
            <a:ext cx="6408063" cy="1367909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72375" y="4019431"/>
            <a:ext cx="49709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Balanced Mass Distribution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72375" y="4509850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Reduces structural vibrations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CE9A5E4-D76A-1292-E9E1-8B2B5D1BA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464" y="7391584"/>
            <a:ext cx="2353003" cy="7716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87B6B32-110F-A98B-01B1-C4D4FD707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40" y="5151148"/>
            <a:ext cx="5582429" cy="25911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ABBA80E-81FE-F7DB-A478-7D18032A60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2756" y="5344248"/>
            <a:ext cx="3972044" cy="28349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90" y="277356"/>
            <a:ext cx="74648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Mathematical Model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42223"/>
            <a:ext cx="4196358" cy="4307562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572703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6F5EE"/>
          </a:solidFill>
          <a:ln/>
        </p:spPr>
      </p:sp>
      <p:sp>
        <p:nvSpPr>
          <p:cNvPr id="5" name="Text 3"/>
          <p:cNvSpPr/>
          <p:nvPr/>
        </p:nvSpPr>
        <p:spPr>
          <a:xfrm>
            <a:off x="2721888" y="269640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3479959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Quaternion Kinematics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4475678"/>
            <a:ext cx="3681770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084" y="4475678"/>
            <a:ext cx="3681770" cy="7410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084" y="5503783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Quaternion representation avoids gimbal lock and enables smooth rotation interpolation.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216962" y="2542223"/>
            <a:ext cx="4196358" cy="4307562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47442" y="2572703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6F5EE"/>
          </a:solidFill>
          <a:ln/>
        </p:spPr>
      </p:sp>
      <p:sp>
        <p:nvSpPr>
          <p:cNvPr id="12" name="Text 9"/>
          <p:cNvSpPr/>
          <p:nvPr/>
        </p:nvSpPr>
        <p:spPr>
          <a:xfrm>
            <a:off x="7145060" y="269640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5474256" y="3479959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Rotational Dynamics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474256" y="4475678"/>
            <a:ext cx="3681770" cy="40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256" y="4475678"/>
            <a:ext cx="3681770" cy="40088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74256" y="5163622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Rigid body dynamics governed by moment of inertia and applied control torque.</a:t>
            </a:r>
            <a:endParaRPr lang="en-US" sz="1750" dirty="0"/>
          </a:p>
        </p:txBody>
      </p:sp>
      <p:sp>
        <p:nvSpPr>
          <p:cNvPr id="17" name="Shape 13"/>
          <p:cNvSpPr/>
          <p:nvPr/>
        </p:nvSpPr>
        <p:spPr>
          <a:xfrm>
            <a:off x="9640133" y="2542223"/>
            <a:ext cx="4196358" cy="4307562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670613" y="2572703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6F5EE"/>
          </a:solidFill>
          <a:ln/>
        </p:spPr>
      </p:sp>
      <p:sp>
        <p:nvSpPr>
          <p:cNvPr id="19" name="Text 15"/>
          <p:cNvSpPr/>
          <p:nvPr/>
        </p:nvSpPr>
        <p:spPr>
          <a:xfrm>
            <a:off x="11568232" y="269640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650" dirty="0"/>
          </a:p>
        </p:txBody>
      </p:sp>
      <p:sp>
        <p:nvSpPr>
          <p:cNvPr id="20" name="Text 16"/>
          <p:cNvSpPr/>
          <p:nvPr/>
        </p:nvSpPr>
        <p:spPr>
          <a:xfrm>
            <a:off x="9897427" y="3479959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Momentum Exchange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9897427" y="4475678"/>
            <a:ext cx="3681770" cy="40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7427" y="4475678"/>
            <a:ext cx="3681770" cy="40088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897427" y="5163622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Reaction wheel angular momentum produces equal and opposite satellite torque.</a:t>
            </a:r>
            <a:endParaRPr lang="en-US" sz="17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B690167-04E1-D98E-FE37-EDCFFE2564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72622" y="7357240"/>
            <a:ext cx="2353003" cy="7716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71" y="720328"/>
            <a:ext cx="5480209" cy="606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Control Algorithm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79371" y="1659136"/>
            <a:ext cx="13271659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PD controller computes control torque based on attitude error and angular velocity feedback, providing stable and responsive attitude correction.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71" y="2713077"/>
            <a:ext cx="6552724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3443" y="3461504"/>
            <a:ext cx="2566511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Quaternion Error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73443" y="3974902"/>
            <a:ext cx="616458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43" y="3974902"/>
            <a:ext cx="6164580" cy="33218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8187" y="2421969"/>
            <a:ext cx="6552843" cy="1143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592258" y="3170396"/>
            <a:ext cx="2749868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Proportional Term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7592258" y="3683794"/>
            <a:ext cx="6164699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2258" y="3683794"/>
            <a:ext cx="6164699" cy="332184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71" y="4958358"/>
            <a:ext cx="6552724" cy="1143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73443" y="5706785"/>
            <a:ext cx="242637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Derivative Term</a:t>
            </a:r>
            <a:endParaRPr lang="en-US" sz="1900" dirty="0"/>
          </a:p>
        </p:txBody>
      </p:sp>
      <p:sp>
        <p:nvSpPr>
          <p:cNvPr id="14" name="Text 7"/>
          <p:cNvSpPr/>
          <p:nvPr/>
        </p:nvSpPr>
        <p:spPr>
          <a:xfrm>
            <a:off x="873443" y="6220182"/>
            <a:ext cx="616458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7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443" y="6220182"/>
            <a:ext cx="6164580" cy="332184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8187" y="4667250"/>
            <a:ext cx="6552843" cy="11430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592258" y="5415677"/>
            <a:ext cx="242637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Total Torque</a:t>
            </a:r>
            <a:endParaRPr lang="en-US" sz="1900" dirty="0"/>
          </a:p>
        </p:txBody>
      </p:sp>
      <p:sp>
        <p:nvSpPr>
          <p:cNvPr id="18" name="Text 9"/>
          <p:cNvSpPr/>
          <p:nvPr/>
        </p:nvSpPr>
        <p:spPr>
          <a:xfrm>
            <a:off x="7592258" y="5929074"/>
            <a:ext cx="6164699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7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2258" y="5929074"/>
            <a:ext cx="6164699" cy="332184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79371" y="6933248"/>
            <a:ext cx="13271659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Proportional </a:t>
            </a:r>
            <a:r>
              <a:rPr lang="en-US" sz="15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gain </a:t>
            </a:r>
            <a:r>
              <a:rPr lang="en-US" sz="1500" b="1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k_p</a:t>
            </a:r>
            <a:r>
              <a:rPr lang="en-US" sz="15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determines stiffness and response speed</a:t>
            </a: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Derivative gain </a:t>
            </a:r>
            <a:r>
              <a:rPr lang="en-US" sz="1500" b="1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k_d</a:t>
            </a:r>
            <a:r>
              <a:rPr lang="en-US" sz="15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provides damping and stability</a:t>
            </a: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Values tuned through simulation and eigenvalue analysis.</a:t>
            </a:r>
            <a:endParaRPr lang="en-US" sz="15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F231B01-CF18-881E-1DDB-0C395DE9B7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40130" y="7384256"/>
            <a:ext cx="2353003" cy="7716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00513"/>
            <a:ext cx="69471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Stability Properties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6292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PD controller guarantees asymptotic stability for attitude regulation. Lyapunov analysis confirms bounded error convergence to zero equilibrium point.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343876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4578310"/>
            <a:ext cx="37161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Asymptotic Stability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506872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Guaranteed convergence to desired attitude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4343876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1396" y="45783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Bounded Error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506872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Lyapunov analysis confirms stability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4343876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4568" y="4578310"/>
            <a:ext cx="28564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Zero Equilibrium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506872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Error converges to equilibrium point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6C46D4-C5DA-D6BA-6306-293A47EAC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7397" y="7367533"/>
            <a:ext cx="2353003" cy="7716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4389" y="148273"/>
            <a:ext cx="5403652" cy="497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Code Implementation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275669" y="900033"/>
            <a:ext cx="10990302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implementation demonstrates quaternion error calculation, control torque generation, and reaction wheel distribution logic.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5669" y="1242695"/>
            <a:ext cx="10990302" cy="4440079"/>
          </a:xfrm>
          <a:prstGeom prst="roundRect">
            <a:avLst>
              <a:gd name="adj" fmla="val 150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267811" y="1242695"/>
            <a:ext cx="11006018" cy="4440079"/>
          </a:xfrm>
          <a:prstGeom prst="roundRect">
            <a:avLst>
              <a:gd name="adj" fmla="val 538"/>
            </a:avLst>
          </a:prstGeom>
          <a:solidFill>
            <a:schemeClr val="bg1"/>
          </a:solidFill>
          <a:ln/>
        </p:spPr>
      </p:sp>
      <p:sp>
        <p:nvSpPr>
          <p:cNvPr id="6" name="Text 4"/>
          <p:cNvSpPr/>
          <p:nvPr/>
        </p:nvSpPr>
        <p:spPr>
          <a:xfrm>
            <a:off x="466884" y="1401882"/>
            <a:ext cx="10607873" cy="4121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Quaternion error calculation
def calculate_error(q_desired, q_current):
    q_conj = np.array([q_current[0], -q_current[1], 
                      -q_current[2], -q_current[3]])
    q_error = quaternion_multiply(q_desired, q_conj)
    return q_error
# PD controller implementation
def pd_controller(q_error, omega, kp, kd):
    torque_p = -kp * q_error[1:4]  # Proportional term
    torque_d = -kd * omega         # Derivative term
    total_torque = torque_p + torque_d
    return total_torque
# Reaction wheel distribution
def distribute_torque(T, B):
    omega_dot = np.linalg.pinv(B) @ T
    return omega_dot
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5669" y="5808504"/>
            <a:ext cx="10990302" cy="43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functions include quaternion multiplication with proper normalization, error vector extraction from scalar-vector form, matrix pseudoinverse for torque distribution, and saturation limits preventing wheel overspeed.</a:t>
            </a:r>
            <a:endParaRPr lang="en-US" sz="12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C7D093-3442-8B28-A43F-D147DA2DF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7397" y="7457967"/>
            <a:ext cx="2353003" cy="771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28B5AC-0644-F9F4-DC2E-28DCE383B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247" y="1876600"/>
            <a:ext cx="6839905" cy="31722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B0B150-3A0B-34AB-F319-42922C310E3E}"/>
              </a:ext>
            </a:extLst>
          </p:cNvPr>
          <p:cNvSpPr txBox="1"/>
          <p:nvPr/>
        </p:nvSpPr>
        <p:spPr>
          <a:xfrm>
            <a:off x="8867691" y="1734278"/>
            <a:ext cx="25635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Unbounded Bold"/>
                <a:ea typeface="Calibri"/>
                <a:cs typeface="Calibri"/>
              </a:rPr>
              <a:t>Control Architecture</a:t>
            </a:r>
          </a:p>
          <a:p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590" y="229634"/>
            <a:ext cx="76167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Results and Future Work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50915" y="1256943"/>
            <a:ext cx="4196358" cy="2753082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09" y="15142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Current Results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08209" y="2004655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Software-in-loop simulation validated control law performance. Attitude error reduced to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&lt;0.5</a:t>
            </a:r>
            <a:r>
              <a:rPr lang="en-US" sz="1600" dirty="0"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° 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±5° 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initial perturbations.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74087" y="2914293"/>
            <a:ext cx="4196358" cy="2753082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1381" y="31715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1381" y="3662005"/>
            <a:ext cx="368177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Hardware implementation on CubeSat platform with flight-rated reaction wheels. Integration with ADCS sensors including magnetometers and sun sensors for autonomous operation.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0915" y="4489566"/>
            <a:ext cx="4196358" cy="2753082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8209" y="47468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Enhancements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8209" y="5237278"/>
            <a:ext cx="368177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Adaptive gain scheduling for varying inertia conditions. Momentum dumping using magnetic torquers during eclipse periods. Fault detection and isolation for wheel failures.</a:t>
            </a:r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70E8C9-2456-8BFE-D5B1-58A107E8A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7397" y="7424575"/>
            <a:ext cx="2353003" cy="7716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7386EA-1EF2-AA56-D908-7AC0164D6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2355" y="464480"/>
            <a:ext cx="3906937" cy="33652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E1FA1F-DC6A-587A-439E-313811B2F5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4553" y="4139730"/>
            <a:ext cx="4380224" cy="36650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14DA7-CABD-4844-0280-84BB6AE6B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2622" y="7338958"/>
            <a:ext cx="2353003" cy="771633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54015E-D4D4-6300-64A7-52B84A99F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677209"/>
              </p:ext>
            </p:extLst>
          </p:nvPr>
        </p:nvGraphicFramePr>
        <p:xfrm>
          <a:off x="1672045" y="1240971"/>
          <a:ext cx="11074224" cy="61592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22106">
                  <a:extLst>
                    <a:ext uri="{9D8B030D-6E8A-4147-A177-3AD203B41FA5}">
                      <a16:colId xmlns:a16="http://schemas.microsoft.com/office/drawing/2014/main" val="2860514761"/>
                    </a:ext>
                  </a:extLst>
                </a:gridCol>
                <a:gridCol w="3252118">
                  <a:extLst>
                    <a:ext uri="{9D8B030D-6E8A-4147-A177-3AD203B41FA5}">
                      <a16:colId xmlns:a16="http://schemas.microsoft.com/office/drawing/2014/main" val="2824158710"/>
                    </a:ext>
                  </a:extLst>
                </a:gridCol>
              </a:tblGrid>
              <a:tr h="60078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 dirty="0">
                          <a:solidFill>
                            <a:schemeClr val="bg1"/>
                          </a:solidFill>
                        </a:rPr>
                        <a:t>Research Paper</a:t>
                      </a:r>
                      <a:endParaRPr lang="en-US" sz="1400" b="0" cap="none" spc="0" dirty="0">
                        <a:solidFill>
                          <a:schemeClr val="bg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22984" marR="94603" marT="94603" marB="94603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bg1"/>
                          </a:solidFill>
                        </a:rPr>
                        <a:t>Impact Factor</a:t>
                      </a:r>
                      <a:endParaRPr lang="en-US" sz="1400" b="0" cap="none" spc="0">
                        <a:solidFill>
                          <a:schemeClr val="bg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22984" marR="94603" marT="94603" marB="94603" anchor="ctr"/>
                </a:tc>
                <a:extLst>
                  <a:ext uri="{0D108BD9-81ED-4DB2-BD59-A6C34878D82A}">
                    <a16:rowId xmlns:a16="http://schemas.microsoft.com/office/drawing/2014/main" val="2059964304"/>
                  </a:ext>
                </a:extLst>
              </a:tr>
              <a:tr h="60078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tx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https://doi.org/10.1016/j.asr.2024.08.056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2984" marR="94603" marT="94603" marB="94603"/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2.8</a:t>
                      </a:r>
                    </a:p>
                  </a:txBody>
                  <a:tcPr marL="122984" marR="94603" marT="94603" marB="94603"/>
                </a:tc>
                <a:extLst>
                  <a:ext uri="{0D108BD9-81ED-4DB2-BD59-A6C34878D82A}">
                    <a16:rowId xmlns:a16="http://schemas.microsoft.com/office/drawing/2014/main" val="3670348308"/>
                  </a:ext>
                </a:extLst>
              </a:tr>
              <a:tr h="60078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tx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https://doi.org/10.1016/j.rineng.2022.100717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122984" marR="94603" marT="94603" marB="94603"/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7.9</a:t>
                      </a:r>
                    </a:p>
                  </a:txBody>
                  <a:tcPr marL="122984" marR="94603" marT="94603" marB="94603"/>
                </a:tc>
                <a:extLst>
                  <a:ext uri="{0D108BD9-81ED-4DB2-BD59-A6C34878D82A}">
                    <a16:rowId xmlns:a16="http://schemas.microsoft.com/office/drawing/2014/main" val="3074167199"/>
                  </a:ext>
                </a:extLst>
              </a:tr>
              <a:tr h="60078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tx1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https://doi.org/10.3390/app12105273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2984" marR="94603" marT="94603" marB="94603"/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2.5</a:t>
                      </a:r>
                    </a:p>
                  </a:txBody>
                  <a:tcPr marL="122984" marR="94603" marT="94603" marB="94603"/>
                </a:tc>
                <a:extLst>
                  <a:ext uri="{0D108BD9-81ED-4DB2-BD59-A6C34878D82A}">
                    <a16:rowId xmlns:a16="http://schemas.microsoft.com/office/drawing/2014/main" val="3832127590"/>
                  </a:ext>
                </a:extLst>
              </a:tr>
              <a:tr h="60078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tx1"/>
                          </a:solidFill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https://doi.org/10.1016/j.actaastro.2014.05.018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2984" marR="94603" marT="94603" marB="94603"/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3.4</a:t>
                      </a:r>
                    </a:p>
                  </a:txBody>
                  <a:tcPr marL="122984" marR="94603" marT="94603" marB="94603"/>
                </a:tc>
                <a:extLst>
                  <a:ext uri="{0D108BD9-81ED-4DB2-BD59-A6C34878D82A}">
                    <a16:rowId xmlns:a16="http://schemas.microsoft.com/office/drawing/2014/main" val="1100986677"/>
                  </a:ext>
                </a:extLst>
              </a:tr>
              <a:tr h="60078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tx1"/>
                          </a:solidFill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https://doi.org/10.1016/j.conengprac.2007.02.004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2984" marR="94603" marT="94603" marB="94603"/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122984" marR="94603" marT="94603" marB="94603"/>
                </a:tc>
                <a:extLst>
                  <a:ext uri="{0D108BD9-81ED-4DB2-BD59-A6C34878D82A}">
                    <a16:rowId xmlns:a16="http://schemas.microsoft.com/office/drawing/2014/main" val="2733201044"/>
                  </a:ext>
                </a:extLst>
              </a:tr>
              <a:tr h="60078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tx1"/>
                          </a:solidFill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https://doi.org/10.1016/j.actaastro.2008.01.007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2984" marR="94603" marT="94603" marB="94603"/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3.4</a:t>
                      </a:r>
                    </a:p>
                  </a:txBody>
                  <a:tcPr marL="122984" marR="94603" marT="94603" marB="94603"/>
                </a:tc>
                <a:extLst>
                  <a:ext uri="{0D108BD9-81ED-4DB2-BD59-A6C34878D82A}">
                    <a16:rowId xmlns:a16="http://schemas.microsoft.com/office/drawing/2014/main" val="4241072363"/>
                  </a:ext>
                </a:extLst>
              </a:tr>
              <a:tr h="60078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tx1"/>
                          </a:solidFill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https://doi.org/10.1016/j.actaastro.2015.05.013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2984" marR="94603" marT="94603" marB="94603"/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3.5</a:t>
                      </a:r>
                    </a:p>
                  </a:txBody>
                  <a:tcPr marL="122984" marR="94603" marT="94603" marB="94603"/>
                </a:tc>
                <a:extLst>
                  <a:ext uri="{0D108BD9-81ED-4DB2-BD59-A6C34878D82A}">
                    <a16:rowId xmlns:a16="http://schemas.microsoft.com/office/drawing/2014/main" val="239504151"/>
                  </a:ext>
                </a:extLst>
              </a:tr>
              <a:tr h="60078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tx1"/>
                          </a:solidFill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https://doi.org/10.1016/j.actaastro.2014.03.004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2984" marR="94603" marT="94603" marB="94603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3.4</a:t>
                      </a:r>
                    </a:p>
                  </a:txBody>
                  <a:tcPr marL="122984" marR="94603" marT="94603" marB="94603"/>
                </a:tc>
                <a:extLst>
                  <a:ext uri="{0D108BD9-81ED-4DB2-BD59-A6C34878D82A}">
                    <a16:rowId xmlns:a16="http://schemas.microsoft.com/office/drawing/2014/main" val="3658551384"/>
                  </a:ext>
                </a:extLst>
              </a:tr>
              <a:tr h="60078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spc="0" noProof="0">
                          <a:solidFill>
                            <a:schemeClr val="tx1"/>
                          </a:solidFill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https://doi.org/10.1016/j.actaastro.2010.01.018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2984" marR="94603" marT="94603" marB="94603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3.4</a:t>
                      </a:r>
                    </a:p>
                  </a:txBody>
                  <a:tcPr marL="122984" marR="94603" marT="94603" marB="94603"/>
                </a:tc>
                <a:extLst>
                  <a:ext uri="{0D108BD9-81ED-4DB2-BD59-A6C34878D82A}">
                    <a16:rowId xmlns:a16="http://schemas.microsoft.com/office/drawing/2014/main" val="7446892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B67AD82-3A55-E0E0-B7D9-57A3B076B3F2}"/>
              </a:ext>
            </a:extLst>
          </p:cNvPr>
          <p:cNvSpPr txBox="1"/>
          <p:nvPr/>
        </p:nvSpPr>
        <p:spPr>
          <a:xfrm>
            <a:off x="3544866" y="229204"/>
            <a:ext cx="7315200" cy="10541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en-US" sz="4450" b="1" kern="1200" dirty="0">
                <a:latin typeface="Unbounded Bold"/>
              </a:rPr>
              <a:t>References</a:t>
            </a:r>
            <a:endParaRPr lang="en-US" sz="4450" b="1" kern="1200" dirty="0">
              <a:latin typeface="Unbounded Bold"/>
              <a:ea typeface="Calibri Light"/>
              <a:cs typeface="Calibri Light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3A6ECE-2C3F-B94B-A52D-4752CC28C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7397" y="7358008"/>
            <a:ext cx="2353003" cy="7716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17EFAC-D3F6-E67A-FF68-2A9371B5E68A}"/>
              </a:ext>
            </a:extLst>
          </p:cNvPr>
          <p:cNvSpPr txBox="1"/>
          <p:nvPr/>
        </p:nvSpPr>
        <p:spPr>
          <a:xfrm>
            <a:off x="3657600" y="3425868"/>
            <a:ext cx="7315200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en-US" sz="8600" kern="1200">
                <a:solidFill>
                  <a:schemeClr val="tx1"/>
                </a:solidFill>
                <a:latin typeface="Calibri Light"/>
                <a:ea typeface="+mn-ea"/>
                <a:cs typeface="+mn-cs"/>
              </a:rPr>
              <a:t>THANK YOU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296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859</Words>
  <Application>Microsoft Office PowerPoint</Application>
  <PresentationFormat>Custom</PresentationFormat>
  <Paragraphs>110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 Black</vt:lpstr>
      <vt:lpstr>Arial</vt:lpstr>
      <vt:lpstr>Consolas</vt:lpstr>
      <vt:lpstr>Open Sans</vt:lpstr>
      <vt:lpstr>Calibri</vt:lpstr>
      <vt:lpstr>Unbounded Bold</vt:lpstr>
      <vt:lpstr>Unbounded Light</vt:lpstr>
      <vt:lpstr>Quattrocento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Raghav Mahajan</dc:creator>
  <cp:lastModifiedBy>Raghav Mahajan</cp:lastModifiedBy>
  <cp:revision>3</cp:revision>
  <dcterms:created xsi:type="dcterms:W3CDTF">2026-03-31T17:40:03Z</dcterms:created>
  <dcterms:modified xsi:type="dcterms:W3CDTF">2026-03-31T17:59:08Z</dcterms:modified>
</cp:coreProperties>
</file>